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embeddedFontLst>
    <p:embeddedFont>
      <p:font typeface="Public Sans" pitchFamily="34" charset="0"/>
      <p:regular r:id="rId12"/>
      <p:bold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OpenTutor puts a patient tutor on any phone, in places where there is no school nearby, no teacher for the subject and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frame the problem. The map shows where climate hazards disrupted schooling in 2025. These are education problems, not only connectivity problems: the students who need support most are often the ones who can least depend on traditional digital education. The +0.31 SD from the Nigeria study (World Bank, 2025) is an effect size for teacher-guided AI tutoring, not a 31% gain, and it did not test this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introducing the solution, say it in these words. The photos show children learning with a laptop: on the right, the kind of study corner and shared device the hub is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playing the demo video. The link on this slide takes the audience to YouTube.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organisers' minimum standard, checked against our GitHub documentation. Everything with a filled circle is backed by a file in the repo. Two items are honestly still open: a fresh pip-audit result, and the measured comparison with real Gemma 4, which needs a run on the hub laptop. The Gemma 4 licence is now confirmed as Apache 2.0 on Google's model card on Hugging Face. GitHub Actions runs on main currently show as failed, so we do not claim a green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523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6000"/>
            <a:ext cx="6604000" cy="1341041"/>
          </a:xfrm>
          <a:prstGeom prst="rect">
            <a:avLst/>
          </a:prstGeom>
          <a:noFill/>
          <a:ln/>
        </p:spPr>
        <p:txBody>
          <a:bodyPr wrap="square" lIns="0" tIns="0" rIns="0" bIns="0" rtlCol="0" anchor="t"/>
          <a:lstStyle>
            <a:lvl1pPr algn="l" indent="0" marL="0">
              <a:lnSpc>
                <a:spcPct val="115000"/>
              </a:lnSpc>
              <a:buNone/>
              <a:defRPr lang="en-US" sz="3000" dirty="0">
                <a:solidFill>
                  <a:srgbClr val="F4EFE5"/>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661841"/>
            <a:ext cx="10566400" cy="3383359"/>
          </a:xfrm>
          <a:prstGeom prst="rect">
            <a:avLst/>
          </a:prstGeom>
          <a:noFill/>
          <a:ln/>
        </p:spPr>
        <p:txBody>
          <a:bodyPr wrap="square" lIns="0" tIns="0" rIns="0" bIns="0" rtlCol="0" anchor="t"/>
          <a:lstStyle>
            <a:lvl1pPr algn="l" indent="0" marL="0">
              <a:lnSpc>
                <a:spcPct val="140000"/>
              </a:lnSpc>
              <a:buNone/>
              <a:defRPr lang="en-US" sz="1600" dirty="0">
                <a:solidFill>
                  <a:srgbClr val="E0892F"/>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523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6000"/>
            <a:ext cx="6604000" cy="1341041"/>
          </a:xfrm>
          <a:prstGeom prst="rect">
            <a:avLst/>
          </a:prstGeom>
          <a:noFill/>
          <a:ln/>
        </p:spPr>
        <p:txBody>
          <a:bodyPr wrap="square" lIns="0" tIns="0" rIns="0" bIns="0" rtlCol="0" anchor="t"/>
          <a:lstStyle>
            <a:lvl1pPr algn="l" indent="0" marL="0">
              <a:lnSpc>
                <a:spcPct val="115000"/>
              </a:lnSpc>
              <a:buNone/>
              <a:defRPr lang="en-US" sz="3000" dirty="0">
                <a:solidFill>
                  <a:srgbClr val="F4EFE5"/>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661841"/>
            <a:ext cx="10566400" cy="3383359"/>
          </a:xfrm>
          <a:prstGeom prst="rect">
            <a:avLst/>
          </a:prstGeom>
          <a:noFill/>
          <a:ln/>
        </p:spPr>
        <p:txBody>
          <a:bodyPr wrap="square" lIns="0" tIns="0" rIns="0" bIns="0" rtlCol="0" anchor="t"/>
          <a:lstStyle>
            <a:lvl1pPr algn="l" indent="0" marL="0">
              <a:lnSpc>
                <a:spcPct val="140000"/>
              </a:lnSpc>
              <a:buNone/>
              <a:defRPr lang="en-US" sz="1600" dirty="0">
                <a:solidFill>
                  <a:srgbClr val="E0892F"/>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hyperlink" Target="https://youtu.be/syDQ9Jdgxr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31F"/>
        </a:solidFill>
      </p:bgPr>
    </p:bg>
    <p:spTree>
      <p:nvGrpSpPr>
        <p:cNvPr id="1" name=""/>
        <p:cNvGrpSpPr/>
        <p:nvPr/>
      </p:nvGrpSpPr>
      <p:grpSpPr>
        <a:xfrm>
          <a:off x="0" y="0"/>
          <a:ext cx="0" cy="0"/>
          <a:chOff x="0" y="0"/>
          <a:chExt cx="0" cy="0"/>
        </a:xfrm>
      </p:grpSpPr>
      <p:pic>
        <p:nvPicPr>
          <p:cNvPr id="2" name="Image 0" descr="Terraced hillside village above a river valley in Humla, Karnali, Nepal">    </p:cNvPr>
          <p:cNvPicPr>
            <a:picLocks noChangeAspect="1"/>
          </p:cNvPicPr>
          <p:nvPr/>
        </p:nvPicPr>
        <p:blipFill>
          <a:blip r:embed="rId1"/>
          <a:srcRect l="0" r="0" t="7824" b="7824"/>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5231F">
                  <a:alpha val="94000"/>
                </a:srgbClr>
              </a:gs>
              <a:gs pos="55000">
                <a:srgbClr val="15231F">
                  <a:alpha val="62000"/>
                </a:srgbClr>
              </a:gs>
              <a:gs pos="100000">
                <a:srgbClr val="15231F">
                  <a:alpha val="12000"/>
                </a:srgbClr>
              </a:gs>
            </a:gsLst>
            <a:lin ang="0" scaled="0"/>
          </a:gradFill>
          <a:ln/>
        </p:spPr>
      </p:sp>
      <p:sp>
        <p:nvSpPr>
          <p:cNvPr id="4" name="Text 1"/>
          <p:cNvSpPr/>
          <p:nvPr/>
        </p:nvSpPr>
        <p:spPr>
          <a:xfrm>
            <a:off x="812800" y="2860625"/>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E0892F"/>
                </a:solidFill>
                <a:latin typeface="Public Sans" pitchFamily="34" charset="0"/>
                <a:ea typeface="Public Sans" pitchFamily="34" charset="-122"/>
                <a:cs typeface="Public Sans" pitchFamily="34" charset="-120"/>
              </a:rPr>
              <a:t>OPEN SOURCE · OFFLINE · FREE</a:t>
            </a:r>
            <a:endParaRPr lang="en-US" sz="1400" dirty="0"/>
          </a:p>
        </p:txBody>
      </p:sp>
      <p:sp>
        <p:nvSpPr>
          <p:cNvPr id="5" name="Text 2"/>
          <p:cNvSpPr/>
          <p:nvPr>
            <p:ph type="title"/>
          </p:nvPr>
        </p:nvSpPr>
        <p:spPr>
          <a:xfrm>
            <a:off x="812800" y="3287316"/>
            <a:ext cx="10883392" cy="1165324"/>
          </a:xfrm>
          <a:prstGeom prst="rect">
            <a:avLst/>
          </a:prstGeom>
          <a:noFill/>
          <a:ln/>
        </p:spPr>
        <p:txBody>
          <a:bodyPr wrap="square" lIns="0" tIns="0" rIns="0" bIns="0" rtlCol="0" anchor="t">
            <a:normAutofit/>
          </a:bodyPr>
          <a:lstStyle/>
          <a:p>
            <a:pPr algn="l" indent="0" marL="0">
              <a:lnSpc>
                <a:spcPts val="8976"/>
              </a:lnSpc>
              <a:buNone/>
            </a:pPr>
            <a:r>
              <a:rPr lang="en-US" sz="8800" b="1" i="0" dirty="0">
                <a:solidFill>
                  <a:srgbClr val="F4EFE5"/>
                </a:solidFill>
                <a:latin typeface="Libre Baskerville" pitchFamily="18" charset="0"/>
                <a:ea typeface="Libre Baskerville" pitchFamily="18" charset="-122"/>
                <a:cs typeface="Libre Baskerville" pitchFamily="18" charset="-120"/>
              </a:rPr>
              <a:t>OpenTutor</a:t>
            </a:r>
            <a:endParaRPr lang="en-US" sz="8800" dirty="0"/>
          </a:p>
        </p:txBody>
      </p:sp>
      <p:sp>
        <p:nvSpPr>
          <p:cNvPr id="6" name="Text 3"/>
          <p:cNvSpPr/>
          <p:nvPr/>
        </p:nvSpPr>
        <p:spPr>
          <a:xfrm>
            <a:off x="812800" y="4605040"/>
            <a:ext cx="7194550" cy="81786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4EFE5"/>
                </a:solidFill>
                <a:latin typeface="Public Sans" pitchFamily="34" charset="0"/>
                <a:ea typeface="Public Sans" pitchFamily="34" charset="-122"/>
                <a:cs typeface="Public Sans" pitchFamily="34" charset="-120"/>
              </a:rPr>
              <a:t>An AI tutor that goes to the student, instead of asking the student to connect to the AI.</a:t>
            </a:r>
            <a:endParaRPr lang="en-US" sz="2400" dirty="0"/>
          </a:p>
        </p:txBody>
      </p:sp>
      <p:sp>
        <p:nvSpPr>
          <p:cNvPr id="7" name="Text 4"/>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0892F"/>
                </a:solidFill>
                <a:latin typeface="Public Sans" pitchFamily="34" charset="0"/>
                <a:ea typeface="Public Sans" pitchFamily="34" charset="-122"/>
                <a:cs typeface="Public Sans" pitchFamily="34" charset="-120"/>
              </a:rPr>
              <a:t>273M out of school · 2.2B offline · One laptop, any phone, no internet</a:t>
            </a:r>
            <a:endParaRPr lang="en-US" sz="1500" dirty="0"/>
          </a:p>
        </p:txBody>
      </p:sp>
      <p:sp>
        <p:nvSpPr>
          <p:cNvPr id="8" name="Text 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2CC"/>
                </a:solidFill>
                <a:latin typeface="Public Sans" pitchFamily="34" charset="0"/>
                <a:ea typeface="Public Sans" pitchFamily="34" charset="-122"/>
                <a:cs typeface="Public Sans" pitchFamily="34" charset="-120"/>
              </a:rPr>
              <a:t>Photo: Humla, Karnali, Nepal · Wang Lama Humla, CC BY-SA 4.0, Wikimedia Commons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231F"/>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E0892F"/>
                </a:solidFill>
                <a:latin typeface="Public Sans" pitchFamily="34" charset="0"/>
                <a:ea typeface="Public Sans" pitchFamily="34" charset="-122"/>
                <a:cs typeface="Public Sans" pitchFamily="34" charset="-120"/>
              </a:rPr>
              <a:t>THE PROBLEM</a:t>
            </a:r>
            <a:endParaRPr lang="en-US" sz="1300" dirty="0"/>
          </a:p>
        </p:txBody>
      </p:sp>
      <p:sp>
        <p:nvSpPr>
          <p:cNvPr id="3" name="Text 1"/>
          <p:cNvSpPr/>
          <p:nvPr>
            <p:ph type="title"/>
          </p:nvPr>
        </p:nvSpPr>
        <p:spPr>
          <a:xfrm>
            <a:off x="812800" y="101600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4EFE5"/>
                </a:solidFill>
                <a:latin typeface="Libre Baskerville" pitchFamily="18" charset="0"/>
                <a:ea typeface="Libre Baskerville" pitchFamily="18" charset="-122"/>
                <a:cs typeface="Libre Baskerville" pitchFamily="18" charset="-120"/>
              </a:rPr>
              <a:t>A global problem, with unequal consequences</a:t>
            </a:r>
            <a:endParaRPr lang="en-US" sz="2800" dirty="0"/>
          </a:p>
        </p:txBody>
      </p:sp>
      <p:pic>
        <p:nvPicPr>
          <p:cNvPr id="4" name="Image 0" descr="World map highlighting the countries and territories that reported climate-related school disruptions in 2025, across every continent">    </p:cNvPr>
          <p:cNvPicPr>
            <a:picLocks noChangeAspect="1"/>
          </p:cNvPicPr>
          <p:nvPr/>
        </p:nvPicPr>
        <p:blipFill>
          <a:blip r:embed="rId1"/>
          <a:srcRect l="0" r="0" t="0" b="0"/>
          <a:stretch/>
        </p:blipFill>
        <p:spPr>
          <a:xfrm>
            <a:off x="711200" y="2095500"/>
            <a:ext cx="6350000" cy="2787650"/>
          </a:xfrm>
          <a:prstGeom prst="rect">
            <a:avLst/>
          </a:prstGeom>
        </p:spPr>
      </p:pic>
      <p:sp>
        <p:nvSpPr>
          <p:cNvPr id="5" name="Text 2"/>
          <p:cNvSpPr/>
          <p:nvPr/>
        </p:nvSpPr>
        <p:spPr>
          <a:xfrm>
            <a:off x="812800" y="5016500"/>
            <a:ext cx="64096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2CC"/>
                </a:solidFill>
                <a:latin typeface="Public Sans" pitchFamily="34" charset="0"/>
                <a:ea typeface="Public Sans" pitchFamily="34" charset="-122"/>
                <a:cs typeface="Public Sans" pitchFamily="34" charset="-120"/>
              </a:rPr>
              <a:t>Orange: countries and territories with reported climate disruptions to schooling in 2025 (UNICEF). Grey means no report, not no disruption.</a:t>
            </a:r>
            <a:endParaRPr lang="en-US" sz="1200" dirty="0"/>
          </a:p>
        </p:txBody>
      </p:sp>
      <p:sp>
        <p:nvSpPr>
          <p:cNvPr id="6" name="Shape 3"/>
          <p:cNvSpPr/>
          <p:nvPr/>
        </p:nvSpPr>
        <p:spPr>
          <a:xfrm>
            <a:off x="7493000" y="1847850"/>
            <a:ext cx="3886200" cy="0"/>
          </a:xfrm>
          <a:prstGeom prst="line">
            <a:avLst/>
          </a:prstGeom>
          <a:noFill/>
          <a:ln w="12700">
            <a:solidFill>
              <a:srgbClr val="E0892F"/>
            </a:solidFill>
            <a:prstDash val="solid"/>
          </a:ln>
        </p:spPr>
      </p:sp>
      <p:sp>
        <p:nvSpPr>
          <p:cNvPr id="7" name="Text 4"/>
          <p:cNvSpPr/>
          <p:nvPr/>
        </p:nvSpPr>
        <p:spPr>
          <a:xfrm>
            <a:off x="7493000" y="1968500"/>
            <a:ext cx="4002786"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E0892F"/>
                </a:solidFill>
                <a:latin typeface="Libre Baskerville" pitchFamily="18" charset="0"/>
                <a:ea typeface="Libre Baskerville" pitchFamily="18" charset="-122"/>
                <a:cs typeface="Libre Baskerville" pitchFamily="18" charset="-120"/>
              </a:rPr>
              <a:t>273 million</a:t>
            </a:r>
            <a:endParaRPr lang="en-US" sz="2500" dirty="0"/>
          </a:p>
        </p:txBody>
      </p:sp>
      <p:sp>
        <p:nvSpPr>
          <p:cNvPr id="8" name="Text 5"/>
          <p:cNvSpPr/>
          <p:nvPr/>
        </p:nvSpPr>
        <p:spPr>
          <a:xfrm>
            <a:off x="7493000" y="2349500"/>
            <a:ext cx="400278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out of school worldwide (2024)</a:t>
            </a:r>
            <a:endParaRPr lang="en-US" sz="1300" dirty="0"/>
          </a:p>
        </p:txBody>
      </p:sp>
      <p:sp>
        <p:nvSpPr>
          <p:cNvPr id="9" name="Shape 6"/>
          <p:cNvSpPr/>
          <p:nvPr/>
        </p:nvSpPr>
        <p:spPr>
          <a:xfrm>
            <a:off x="7493000" y="2736850"/>
            <a:ext cx="3886200" cy="0"/>
          </a:xfrm>
          <a:prstGeom prst="line">
            <a:avLst/>
          </a:prstGeom>
          <a:noFill/>
          <a:ln w="12700">
            <a:solidFill>
              <a:srgbClr val="E0892F"/>
            </a:solidFill>
            <a:prstDash val="solid"/>
          </a:ln>
        </p:spPr>
      </p:sp>
      <p:sp>
        <p:nvSpPr>
          <p:cNvPr id="10" name="Text 7"/>
          <p:cNvSpPr/>
          <p:nvPr/>
        </p:nvSpPr>
        <p:spPr>
          <a:xfrm>
            <a:off x="7493000" y="2857500"/>
            <a:ext cx="4002786"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E0892F"/>
                </a:solidFill>
                <a:latin typeface="Libre Baskerville" pitchFamily="18" charset="0"/>
                <a:ea typeface="Libre Baskerville" pitchFamily="18" charset="-122"/>
                <a:cs typeface="Libre Baskerville" pitchFamily="18" charset="-120"/>
              </a:rPr>
              <a:t>70%</a:t>
            </a:r>
            <a:endParaRPr lang="en-US" sz="2500" dirty="0"/>
          </a:p>
        </p:txBody>
      </p:sp>
      <p:sp>
        <p:nvSpPr>
          <p:cNvPr id="11" name="Text 8"/>
          <p:cNvSpPr/>
          <p:nvPr/>
        </p:nvSpPr>
        <p:spPr>
          <a:xfrm>
            <a:off x="7493000" y="3238500"/>
            <a:ext cx="400278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of 10-year-olds in low- and middle-income countries cannot read a simple text (2022)</a:t>
            </a:r>
            <a:endParaRPr lang="en-US" sz="1300" dirty="0"/>
          </a:p>
        </p:txBody>
      </p:sp>
      <p:sp>
        <p:nvSpPr>
          <p:cNvPr id="12" name="Shape 9"/>
          <p:cNvSpPr/>
          <p:nvPr/>
        </p:nvSpPr>
        <p:spPr>
          <a:xfrm>
            <a:off x="7493000" y="3752850"/>
            <a:ext cx="3886200" cy="0"/>
          </a:xfrm>
          <a:prstGeom prst="line">
            <a:avLst/>
          </a:prstGeom>
          <a:noFill/>
          <a:ln w="12700">
            <a:solidFill>
              <a:srgbClr val="E0892F"/>
            </a:solidFill>
            <a:prstDash val="solid"/>
          </a:ln>
        </p:spPr>
      </p:sp>
      <p:sp>
        <p:nvSpPr>
          <p:cNvPr id="13" name="Text 10"/>
          <p:cNvSpPr/>
          <p:nvPr/>
        </p:nvSpPr>
        <p:spPr>
          <a:xfrm>
            <a:off x="7493000" y="3873500"/>
            <a:ext cx="4002786"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E0892F"/>
                </a:solidFill>
                <a:latin typeface="Libre Baskerville" pitchFamily="18" charset="0"/>
                <a:ea typeface="Libre Baskerville" pitchFamily="18" charset="-122"/>
                <a:cs typeface="Libre Baskerville" pitchFamily="18" charset="-120"/>
              </a:rPr>
              <a:t>2.2 billion</a:t>
            </a:r>
            <a:endParaRPr lang="en-US" sz="2500" dirty="0"/>
          </a:p>
        </p:txBody>
      </p:sp>
      <p:sp>
        <p:nvSpPr>
          <p:cNvPr id="14" name="Text 11"/>
          <p:cNvSpPr/>
          <p:nvPr/>
        </p:nvSpPr>
        <p:spPr>
          <a:xfrm>
            <a:off x="7493000" y="4254500"/>
            <a:ext cx="400278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people still offline (2025)</a:t>
            </a:r>
            <a:endParaRPr lang="en-US" sz="1300" dirty="0"/>
          </a:p>
        </p:txBody>
      </p:sp>
      <p:sp>
        <p:nvSpPr>
          <p:cNvPr id="15" name="Shape 12"/>
          <p:cNvSpPr/>
          <p:nvPr/>
        </p:nvSpPr>
        <p:spPr>
          <a:xfrm>
            <a:off x="7493000" y="4641850"/>
            <a:ext cx="3886200" cy="0"/>
          </a:xfrm>
          <a:prstGeom prst="line">
            <a:avLst/>
          </a:prstGeom>
          <a:noFill/>
          <a:ln w="12700">
            <a:solidFill>
              <a:srgbClr val="E0892F"/>
            </a:solidFill>
            <a:prstDash val="solid"/>
          </a:ln>
        </p:spPr>
      </p:sp>
      <p:sp>
        <p:nvSpPr>
          <p:cNvPr id="16" name="Text 13"/>
          <p:cNvSpPr/>
          <p:nvPr/>
        </p:nvSpPr>
        <p:spPr>
          <a:xfrm>
            <a:off x="7493000" y="4762500"/>
            <a:ext cx="4002786" cy="469900"/>
          </a:xfrm>
          <a:prstGeom prst="rect">
            <a:avLst/>
          </a:prstGeom>
          <a:noFill/>
          <a:ln/>
        </p:spPr>
        <p:txBody>
          <a:bodyPr wrap="square" lIns="0" tIns="0" rIns="0" bIns="0" rtlCol="0" anchor="t">
            <a:normAutofit/>
          </a:bodyPr>
          <a:lstStyle/>
          <a:p>
            <a:pPr algn="l" indent="0" marL="0">
              <a:lnSpc>
                <a:spcPts val="3500"/>
              </a:lnSpc>
              <a:buNone/>
            </a:pPr>
            <a:r>
              <a:rPr lang="en-US" sz="2500" b="1" dirty="0">
                <a:solidFill>
                  <a:srgbClr val="E0892F"/>
                </a:solidFill>
                <a:latin typeface="Libre Baskerville" pitchFamily="18" charset="0"/>
                <a:ea typeface="Libre Baskerville" pitchFamily="18" charset="-122"/>
                <a:cs typeface="Libre Baskerville" pitchFamily="18" charset="-120"/>
              </a:rPr>
              <a:t>171M+ · 75%</a:t>
            </a:r>
            <a:endParaRPr lang="en-US" sz="2500" dirty="0"/>
          </a:p>
        </p:txBody>
      </p:sp>
      <p:sp>
        <p:nvSpPr>
          <p:cNvPr id="17" name="Text 14"/>
          <p:cNvSpPr/>
          <p:nvPr/>
        </p:nvSpPr>
        <p:spPr>
          <a:xfrm>
            <a:off x="7493000" y="5143500"/>
            <a:ext cx="400278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students hit by climate disruption in 2025; 75% live in low- or lower-middle-income countries</a:t>
            </a:r>
            <a:endParaRPr lang="en-US" sz="13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2CC"/>
                </a:solidFill>
                <a:latin typeface="Public Sans" pitchFamily="34" charset="0"/>
                <a:ea typeface="Public Sans" pitchFamily="34" charset="-122"/>
                <a:cs typeface="Public Sans" pitchFamily="34" charset="-120"/>
              </a:rPr>
              <a:t>Sources: UNESCO (2026) · World Bank (2022) · ITU (2025) · UNICEF (2026). Different populations and dates: do not add the figures together.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31F"/>
        </a:solidFill>
      </p:bgPr>
    </p:bg>
    <p:spTree>
      <p:nvGrpSpPr>
        <p:cNvPr id="1" name=""/>
        <p:cNvGrpSpPr/>
        <p:nvPr/>
      </p:nvGrpSpPr>
      <p:grpSpPr>
        <a:xfrm>
          <a:off x="0" y="0"/>
          <a:ext cx="0" cy="0"/>
          <a:chOff x="0" y="0"/>
          <a:chExt cx="0" cy="0"/>
        </a:xfrm>
      </p:grpSpPr>
      <p:pic>
        <p:nvPicPr>
          <p:cNvPr id="2" name="Image 0" descr="Wooden stilt house with a tin roof in a Chittagong Hill Tracts village, Bangladesh, with two boys playing football in front">    </p:cNvPr>
          <p:cNvPicPr>
            <a:picLocks noChangeAspect="1"/>
          </p:cNvPicPr>
          <p:nvPr/>
        </p:nvPicPr>
        <p:blipFill>
          <a:blip r:embed="rId1"/>
          <a:srcRect l="0" r="0" t="12500" b="1250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5231F">
                  <a:alpha val="95000"/>
                </a:srgbClr>
              </a:gs>
              <a:gs pos="62000">
                <a:srgbClr val="15231F">
                  <a:alpha val="82000"/>
                </a:srgbClr>
              </a:gs>
              <a:gs pos="100000">
                <a:srgbClr val="15231F">
                  <a:alpha val="30000"/>
                </a:srgbClr>
              </a:gs>
            </a:gsLst>
            <a:lin ang="0" scaled="0"/>
          </a:gradFill>
          <a:ln/>
        </p:spPr>
      </p:sp>
      <p:pic>
        <p:nvPicPr>
          <p:cNvPr id="4" name="Image 1" descr="A child studying with a phone, a laptop and open textbooks at a wooden desk inside a timber cabin">    </p:cNvPr>
          <p:cNvPicPr>
            <a:picLocks noChangeAspect="1"/>
          </p:cNvPicPr>
          <p:nvPr/>
        </p:nvPicPr>
        <p:blipFill>
          <a:blip r:embed="rId2"/>
          <a:srcRect l="0" r="0" t="4839" b="4839"/>
          <a:stretch/>
        </p:blipFill>
        <p:spPr>
          <a:xfrm>
            <a:off x="7848600" y="736600"/>
            <a:ext cx="3505200" cy="2044700"/>
          </a:xfrm>
          <a:prstGeom prst="roundRect">
            <a:avLst>
              <a:gd name="adj" fmla="val 3727"/>
            </a:avLst>
          </a:prstGeom>
        </p:spPr>
      </p:pic>
      <p:sp>
        <p:nvSpPr>
          <p:cNvPr id="5" name="Shape 1"/>
          <p:cNvSpPr/>
          <p:nvPr/>
        </p:nvSpPr>
        <p:spPr>
          <a:xfrm>
            <a:off x="7835900" y="723900"/>
            <a:ext cx="3530600" cy="2070100"/>
          </a:xfrm>
          <a:prstGeom prst="roundRect">
            <a:avLst>
              <a:gd name="adj" fmla="val 4294"/>
            </a:avLst>
          </a:prstGeom>
          <a:noFill/>
          <a:ln w="25400">
            <a:solidFill>
              <a:srgbClr val="F4EFE5"/>
            </a:solidFill>
            <a:prstDash val="solid"/>
          </a:ln>
        </p:spPr>
      </p:sp>
      <p:pic>
        <p:nvPicPr>
          <p:cNvPr id="6" name="Image 2" descr="Two children laughing as they learn together on a laptop outdoors in a village">    </p:cNvPr>
          <p:cNvPicPr>
            <a:picLocks noChangeAspect="1"/>
          </p:cNvPicPr>
          <p:nvPr/>
        </p:nvPicPr>
        <p:blipFill>
          <a:blip r:embed="rId3"/>
          <a:srcRect l="0" r="0" t="6305" b="6305"/>
          <a:stretch/>
        </p:blipFill>
        <p:spPr>
          <a:xfrm>
            <a:off x="7848600" y="2971800"/>
            <a:ext cx="3505200" cy="2044700"/>
          </a:xfrm>
          <a:prstGeom prst="roundRect">
            <a:avLst>
              <a:gd name="adj" fmla="val 3727"/>
            </a:avLst>
          </a:prstGeom>
        </p:spPr>
      </p:pic>
      <p:sp>
        <p:nvSpPr>
          <p:cNvPr id="7" name="Shape 2"/>
          <p:cNvSpPr/>
          <p:nvPr/>
        </p:nvSpPr>
        <p:spPr>
          <a:xfrm>
            <a:off x="7835900" y="2959100"/>
            <a:ext cx="3530600" cy="2070100"/>
          </a:xfrm>
          <a:prstGeom prst="roundRect">
            <a:avLst>
              <a:gd name="adj" fmla="val 4294"/>
            </a:avLst>
          </a:prstGeom>
          <a:noFill/>
          <a:ln w="25400">
            <a:solidFill>
              <a:srgbClr val="F4EFE5"/>
            </a:solidFill>
            <a:prstDash val="solid"/>
          </a:ln>
        </p:spPr>
      </p:sp>
      <p:sp>
        <p:nvSpPr>
          <p:cNvPr id="8" name="Text 3"/>
          <p:cNvSpPr/>
          <p:nvPr/>
        </p:nvSpPr>
        <p:spPr>
          <a:xfrm>
            <a:off x="812800" y="711200"/>
            <a:ext cx="5886450"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E0892F"/>
                </a:solidFill>
                <a:latin typeface="Public Sans" pitchFamily="34" charset="0"/>
                <a:ea typeface="Public Sans" pitchFamily="34" charset="-122"/>
                <a:cs typeface="Public Sans" pitchFamily="34" charset="-120"/>
              </a:rPr>
              <a:t>OUR ANSWER</a:t>
            </a:r>
            <a:endParaRPr lang="en-US" sz="1300" dirty="0"/>
          </a:p>
        </p:txBody>
      </p:sp>
      <p:sp>
        <p:nvSpPr>
          <p:cNvPr id="9" name="Text 4"/>
          <p:cNvSpPr/>
          <p:nvPr>
            <p:ph type="title"/>
          </p:nvPr>
        </p:nvSpPr>
        <p:spPr>
          <a:xfrm>
            <a:off x="812800" y="1016000"/>
            <a:ext cx="6802120" cy="1397000"/>
          </a:xfrm>
          <a:prstGeom prst="rect">
            <a:avLst/>
          </a:prstGeom>
          <a:noFill/>
          <a:ln/>
        </p:spPr>
        <p:txBody>
          <a:bodyPr wrap="square" lIns="0" tIns="0" rIns="0" bIns="0" rtlCol="0" anchor="t">
            <a:normAutofit/>
          </a:bodyPr>
          <a:lstStyle/>
          <a:p>
            <a:pPr algn="l" indent="0" marL="0">
              <a:lnSpc>
                <a:spcPts val="3600"/>
              </a:lnSpc>
              <a:buNone/>
            </a:pPr>
            <a:r>
              <a:rPr lang="en-US" sz="3000" b="1" i="0" dirty="0">
                <a:solidFill>
                  <a:srgbClr val="F4EFE5"/>
                </a:solidFill>
                <a:latin typeface="Libre Baskerville" pitchFamily="18" charset="0"/>
                <a:ea typeface="Libre Baskerville" pitchFamily="18" charset="-122"/>
                <a:cs typeface="Libre Baskerville" pitchFamily="18" charset="-120"/>
              </a:rPr>
              <a:t>We’re bringing the AI tutor to the student, instead of requiring the student to connect to the AI.</a:t>
            </a:r>
            <a:endParaRPr lang="en-US" sz="3000" dirty="0"/>
          </a:p>
        </p:txBody>
      </p:sp>
      <p:sp>
        <p:nvSpPr>
          <p:cNvPr id="10" name="Text 5"/>
          <p:cNvSpPr/>
          <p:nvPr/>
        </p:nvSpPr>
        <p:spPr>
          <a:xfrm>
            <a:off x="812800" y="2825750"/>
            <a:ext cx="680212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EFE5"/>
                </a:solidFill>
                <a:latin typeface="Public Sans" pitchFamily="34" charset="0"/>
                <a:ea typeface="Public Sans" pitchFamily="34" charset="-122"/>
                <a:cs typeface="Public Sans" pitchFamily="34" charset="-120"/>
              </a:rPr>
              <a:t>Their school may close and their internet may disappear, but their ability to keep learning doesn’t have to.</a:t>
            </a:r>
            <a:endParaRPr lang="en-US" sz="1600" dirty="0"/>
          </a:p>
        </p:txBody>
      </p:sp>
      <p:sp>
        <p:nvSpPr>
          <p:cNvPr id="11" name="Shape 6"/>
          <p:cNvSpPr/>
          <p:nvPr/>
        </p:nvSpPr>
        <p:spPr>
          <a:xfrm>
            <a:off x="819150" y="3943350"/>
            <a:ext cx="3263900" cy="787400"/>
          </a:xfrm>
          <a:prstGeom prst="roundRect">
            <a:avLst>
              <a:gd name="adj" fmla="val 10484"/>
            </a:avLst>
          </a:prstGeom>
          <a:solidFill>
            <a:srgbClr val="1F342E">
              <a:alpha val="90000"/>
            </a:srgbClr>
          </a:solidFill>
          <a:ln w="12700">
            <a:solidFill>
              <a:srgbClr val="E0892F"/>
            </a:solidFill>
            <a:prstDash val="solid"/>
          </a:ln>
        </p:spPr>
      </p:sp>
      <p:sp>
        <p:nvSpPr>
          <p:cNvPr id="12" name="Text 7"/>
          <p:cNvSpPr/>
          <p:nvPr/>
        </p:nvSpPr>
        <p:spPr>
          <a:xfrm>
            <a:off x="965200" y="4064000"/>
            <a:ext cx="30740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892F"/>
                </a:solidFill>
                <a:latin typeface="Public Sans" pitchFamily="34" charset="0"/>
                <a:ea typeface="Public Sans" pitchFamily="34" charset="-122"/>
                <a:cs typeface="Public Sans" pitchFamily="34" charset="-120"/>
              </a:rPr>
              <a:t>On-device AI</a:t>
            </a:r>
            <a:endParaRPr lang="en-US" sz="1400" dirty="0"/>
          </a:p>
        </p:txBody>
      </p:sp>
      <p:sp>
        <p:nvSpPr>
          <p:cNvPr id="13" name="Text 8"/>
          <p:cNvSpPr/>
          <p:nvPr/>
        </p:nvSpPr>
        <p:spPr>
          <a:xfrm>
            <a:off x="965200" y="4356100"/>
            <a:ext cx="307403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Gemma 4 runs on one laptop</a:t>
            </a:r>
            <a:endParaRPr lang="en-US" sz="1300" dirty="0"/>
          </a:p>
        </p:txBody>
      </p:sp>
      <p:sp>
        <p:nvSpPr>
          <p:cNvPr id="14" name="Shape 9"/>
          <p:cNvSpPr/>
          <p:nvPr/>
        </p:nvSpPr>
        <p:spPr>
          <a:xfrm>
            <a:off x="4248150" y="3943350"/>
            <a:ext cx="3263900" cy="787400"/>
          </a:xfrm>
          <a:prstGeom prst="roundRect">
            <a:avLst>
              <a:gd name="adj" fmla="val 10484"/>
            </a:avLst>
          </a:prstGeom>
          <a:solidFill>
            <a:srgbClr val="1F342E">
              <a:alpha val="90000"/>
            </a:srgbClr>
          </a:solidFill>
          <a:ln w="12700">
            <a:solidFill>
              <a:srgbClr val="E0892F"/>
            </a:solidFill>
            <a:prstDash val="solid"/>
          </a:ln>
        </p:spPr>
      </p:sp>
      <p:sp>
        <p:nvSpPr>
          <p:cNvPr id="15" name="Text 10"/>
          <p:cNvSpPr/>
          <p:nvPr/>
        </p:nvSpPr>
        <p:spPr>
          <a:xfrm>
            <a:off x="4394200" y="4064000"/>
            <a:ext cx="30740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892F"/>
                </a:solidFill>
                <a:latin typeface="Public Sans" pitchFamily="34" charset="0"/>
                <a:ea typeface="Public Sans" pitchFamily="34" charset="-122"/>
                <a:cs typeface="Public Sans" pitchFamily="34" charset="-120"/>
              </a:rPr>
              <a:t>Open-weight model</a:t>
            </a:r>
            <a:endParaRPr lang="en-US" sz="1400" dirty="0"/>
          </a:p>
        </p:txBody>
      </p:sp>
      <p:sp>
        <p:nvSpPr>
          <p:cNvPr id="16" name="Text 11"/>
          <p:cNvSpPr/>
          <p:nvPr/>
        </p:nvSpPr>
        <p:spPr>
          <a:xfrm>
            <a:off x="4394200" y="4356100"/>
            <a:ext cx="307403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Free to inspect and reuse</a:t>
            </a:r>
            <a:endParaRPr lang="en-US" sz="1300" dirty="0"/>
          </a:p>
        </p:txBody>
      </p:sp>
      <p:sp>
        <p:nvSpPr>
          <p:cNvPr id="17" name="Shape 12"/>
          <p:cNvSpPr/>
          <p:nvPr/>
        </p:nvSpPr>
        <p:spPr>
          <a:xfrm>
            <a:off x="819150" y="4895850"/>
            <a:ext cx="3263900" cy="787400"/>
          </a:xfrm>
          <a:prstGeom prst="roundRect">
            <a:avLst>
              <a:gd name="adj" fmla="val 10484"/>
            </a:avLst>
          </a:prstGeom>
          <a:solidFill>
            <a:srgbClr val="1F342E">
              <a:alpha val="90000"/>
            </a:srgbClr>
          </a:solidFill>
          <a:ln w="12700">
            <a:solidFill>
              <a:srgbClr val="E0892F"/>
            </a:solidFill>
            <a:prstDash val="solid"/>
          </a:ln>
        </p:spPr>
      </p:sp>
      <p:sp>
        <p:nvSpPr>
          <p:cNvPr id="18" name="Text 13"/>
          <p:cNvSpPr/>
          <p:nvPr/>
        </p:nvSpPr>
        <p:spPr>
          <a:xfrm>
            <a:off x="965200" y="5016500"/>
            <a:ext cx="30740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892F"/>
                </a:solidFill>
                <a:latin typeface="Public Sans" pitchFamily="34" charset="0"/>
                <a:ea typeface="Public Sans" pitchFamily="34" charset="-122"/>
                <a:cs typeface="Public Sans" pitchFamily="34" charset="-120"/>
              </a:rPr>
              <a:t>Offline practice</a:t>
            </a:r>
            <a:endParaRPr lang="en-US" sz="1400" dirty="0"/>
          </a:p>
        </p:txBody>
      </p:sp>
      <p:sp>
        <p:nvSpPr>
          <p:cNvPr id="19" name="Text 14"/>
          <p:cNvSpPr/>
          <p:nvPr/>
        </p:nvSpPr>
        <p:spPr>
          <a:xfrm>
            <a:off x="965200" y="5308600"/>
            <a:ext cx="307403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Works with the internet off</a:t>
            </a:r>
            <a:endParaRPr lang="en-US" sz="1300" dirty="0"/>
          </a:p>
        </p:txBody>
      </p:sp>
      <p:sp>
        <p:nvSpPr>
          <p:cNvPr id="20" name="Shape 15"/>
          <p:cNvSpPr/>
          <p:nvPr/>
        </p:nvSpPr>
        <p:spPr>
          <a:xfrm>
            <a:off x="4248150" y="4895850"/>
            <a:ext cx="3263900" cy="787400"/>
          </a:xfrm>
          <a:prstGeom prst="roundRect">
            <a:avLst>
              <a:gd name="adj" fmla="val 10484"/>
            </a:avLst>
          </a:prstGeom>
          <a:solidFill>
            <a:srgbClr val="1F342E">
              <a:alpha val="90000"/>
            </a:srgbClr>
          </a:solidFill>
          <a:ln w="12700">
            <a:solidFill>
              <a:srgbClr val="E0892F"/>
            </a:solidFill>
            <a:prstDash val="solid"/>
          </a:ln>
        </p:spPr>
      </p:sp>
      <p:sp>
        <p:nvSpPr>
          <p:cNvPr id="21" name="Text 16"/>
          <p:cNvSpPr/>
          <p:nvPr/>
        </p:nvSpPr>
        <p:spPr>
          <a:xfrm>
            <a:off x="4394200" y="5016500"/>
            <a:ext cx="30740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0892F"/>
                </a:solidFill>
                <a:latin typeface="Public Sans" pitchFamily="34" charset="0"/>
                <a:ea typeface="Public Sans" pitchFamily="34" charset="-122"/>
                <a:cs typeface="Public Sans" pitchFamily="34" charset="-120"/>
              </a:rPr>
              <a:t>Data stays local</a:t>
            </a:r>
            <a:endParaRPr lang="en-US" sz="1400" dirty="0"/>
          </a:p>
        </p:txBody>
      </p:sp>
      <p:sp>
        <p:nvSpPr>
          <p:cNvPr id="22" name="Text 17"/>
          <p:cNvSpPr/>
          <p:nvPr/>
        </p:nvSpPr>
        <p:spPr>
          <a:xfrm>
            <a:off x="4394200" y="5308600"/>
            <a:ext cx="3074035"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4EFE5"/>
                </a:solidFill>
                <a:latin typeface="Public Sans" pitchFamily="34" charset="0"/>
                <a:ea typeface="Public Sans" pitchFamily="34" charset="-122"/>
                <a:cs typeface="Public Sans" pitchFamily="34" charset="-120"/>
              </a:rPr>
              <a:t>Nothing leaves the hub</a:t>
            </a:r>
            <a:endParaRPr lang="en-US"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2CC"/>
                </a:solidFill>
                <a:latin typeface="Public Sans" pitchFamily="34" charset="0"/>
                <a:ea typeface="Public Sans" pitchFamily="34" charset="-122"/>
                <a:cs typeface="Public Sans" pitchFamily="34" charset="-120"/>
              </a:rPr>
              <a:t>Background: Hill Tracts village, Bangladesh · S.H. Tanim, CC BY 4.0, Wikimedia Commons · Insets: Magnific stock photos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31F"/>
        </a:solidFill>
      </p:bgPr>
    </p:bg>
    <p:spTree>
      <p:nvGrpSpPr>
        <p:cNvPr id="1" name=""/>
        <p:cNvGrpSpPr/>
        <p:nvPr/>
      </p:nvGrpSpPr>
      <p:grpSpPr>
        <a:xfrm>
          <a:off x="0" y="0"/>
          <a:ext cx="0" cy="0"/>
          <a:chOff x="0" y="0"/>
          <a:chExt cx="0" cy="0"/>
        </a:xfrm>
      </p:grpSpPr>
      <p:pic>
        <p:nvPicPr>
          <p:cNvPr id="2" name="Image 0" descr="Schoolchildren in colourful Andean ponchos and hats gathered around a small telescope">    </p:cNvPr>
          <p:cNvPicPr>
            <a:picLocks noChangeAspect="1"/>
          </p:cNvPicPr>
          <p:nvPr/>
        </p:nvPicPr>
        <p:blipFill>
          <a:blip r:embed="rId1"/>
          <a:srcRect l="0" r="0" t="11165" b="11165"/>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5231F">
                  <a:alpha val="95000"/>
                </a:srgbClr>
              </a:gs>
              <a:gs pos="50000">
                <a:srgbClr val="15231F">
                  <a:alpha val="78000"/>
                </a:srgbClr>
              </a:gs>
              <a:gs pos="100000">
                <a:srgbClr val="15231F">
                  <a:alpha val="20000"/>
                </a:srgbClr>
              </a:gs>
            </a:gsLst>
            <a:lin ang="0" scaled="0"/>
          </a:gradFill>
          <a:ln/>
        </p:spPr>
      </p:sp>
      <p:sp>
        <p:nvSpPr>
          <p:cNvPr id="4" name="Shape 1"/>
          <p:cNvSpPr/>
          <p:nvPr/>
        </p:nvSpPr>
        <p:spPr>
          <a:xfrm>
            <a:off x="7493000" y="1905000"/>
            <a:ext cx="1905000" cy="1905000"/>
          </a:xfrm>
          <a:prstGeom prst="roundRect">
            <a:avLst>
              <a:gd name="adj" fmla="val 50000"/>
            </a:avLst>
          </a:prstGeom>
          <a:solidFill>
            <a:srgbClr val="E0892F"/>
          </a:solidFill>
          <a:ln/>
          <a:effectLst>
            <a:outerShdw sx="100000" sy="100000" kx="0" ky="0" algn="bl" rotWithShape="0" blurRad="152400" dist="0" dir="60000">
              <a:srgbClr val="E0892F">
                <a:alpha val="28000"/>
              </a:srgbClr>
            </a:outerShdw>
          </a:effectLst>
        </p:spPr>
      </p:sp>
      <p:sp>
        <p:nvSpPr>
          <p:cNvPr id="5" name="Text 2"/>
          <p:cNvSpPr/>
          <p:nvPr/>
        </p:nvSpPr>
        <p:spPr>
          <a:xfrm>
            <a:off x="6473825" y="4318000"/>
            <a:ext cx="4578350"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F4EFE5"/>
                </a:solidFill>
                <a:latin typeface="Public Sans" pitchFamily="34" charset="0"/>
                <a:ea typeface="Public Sans" pitchFamily="34" charset="-122"/>
                <a:cs typeface="Public Sans" pitchFamily="34" charset="-120"/>
              </a:rPr>
              <a:t>Full walkthrough, internet off</a:t>
            </a:r>
            <a:endParaRPr lang="en-US" sz="1500" dirty="0"/>
          </a:p>
        </p:txBody>
      </p:sp>
      <p:sp>
        <p:nvSpPr>
          <p:cNvPr id="6" name="Text 3"/>
          <p:cNvSpPr/>
          <p:nvPr/>
        </p:nvSpPr>
        <p:spPr>
          <a:xfrm>
            <a:off x="812800" y="2227709"/>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E0892F"/>
                </a:solidFill>
                <a:latin typeface="Public Sans" pitchFamily="34" charset="0"/>
                <a:ea typeface="Public Sans" pitchFamily="34" charset="-122"/>
                <a:cs typeface="Public Sans" pitchFamily="34" charset="-120"/>
              </a:rPr>
              <a:t>DEMO</a:t>
            </a:r>
            <a:endParaRPr lang="en-US" sz="1300" dirty="0"/>
          </a:p>
        </p:txBody>
      </p:sp>
      <p:sp>
        <p:nvSpPr>
          <p:cNvPr id="7" name="Text 4"/>
          <p:cNvSpPr/>
          <p:nvPr>
            <p:ph type="title"/>
          </p:nvPr>
        </p:nvSpPr>
        <p:spPr>
          <a:xfrm>
            <a:off x="812800" y="2662039"/>
            <a:ext cx="654050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EFE5"/>
                </a:solidFill>
                <a:latin typeface="Libre Baskerville" pitchFamily="18" charset="0"/>
                <a:ea typeface="Libre Baskerville" pitchFamily="18" charset="-122"/>
                <a:cs typeface="Libre Baskerville" pitchFamily="18" charset="-120"/>
              </a:rPr>
              <a:t>See OpenTutor in action</a:t>
            </a:r>
            <a:endParaRPr lang="en-US" sz="4800" dirty="0"/>
          </a:p>
        </p:txBody>
      </p:sp>
      <p:sp>
        <p:nvSpPr>
          <p:cNvPr id="8" name="Text 5">
            <a:hlinkClick r:id="rId4"/>
          </p:cNvPr>
          <p:cNvSpPr/>
          <p:nvPr/>
        </p:nvSpPr>
        <p:spPr>
          <a:xfrm>
            <a:off x="812800" y="4206280"/>
            <a:ext cx="4826000" cy="660400"/>
          </a:xfrm>
          <a:prstGeom prst="roundRect">
            <a:avLst>
              <a:gd name="adj" fmla="val 15385"/>
            </a:avLst>
          </a:prstGeom>
          <a:solidFill>
            <a:srgbClr val="E0892F"/>
          </a:solidFill>
          <a:ln/>
        </p:spPr>
        <p:txBody>
          <a:bodyPr wrap="square" lIns="275042" tIns="148042" rIns="148550" bIns="122642" rtlCol="0" anchor="t">
            <a:normAutofit/>
          </a:bodyPr>
          <a:lstStyle/>
          <a:p>
            <a:pPr algn="l" indent="0" marL="0">
              <a:lnSpc>
                <a:spcPts val="2400"/>
              </a:lnSpc>
              <a:buNone/>
            </a:pPr>
            <a:r>
              <a:rPr lang="en-US" sz="2000" b="1" dirty="0">
                <a:solidFill>
                  <a:srgbClr val="15231F"/>
                </a:solidFill>
                <a:latin typeface="Public Sans" pitchFamily="34" charset="0"/>
                <a:ea typeface="Public Sans" pitchFamily="34" charset="-122"/>
                <a:cs typeface="Public Sans" pitchFamily="34" charset="-120"/>
                <a:hlinkClick r:id="rId4"/>
              </a:rPr>
              <a:t>Watch the demo on YouTube</a:t>
            </a:r>
            <a:endParaRPr lang="en-US" sz="2000" dirty="0"/>
          </a:p>
        </p:txBody>
      </p:sp>
      <p:sp>
        <p:nvSpPr>
          <p:cNvPr id="10" name="Text 7"/>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0892F"/>
                </a:solidFill>
                <a:latin typeface="Public Sans" pitchFamily="34" charset="0"/>
                <a:ea typeface="Public Sans" pitchFamily="34" charset="-122"/>
                <a:cs typeface="Public Sans" pitchFamily="34" charset="-120"/>
              </a:rPr>
              <a:t>Code: github.com/adricasi/opentutor</a:t>
            </a:r>
            <a:endParaRPr lang="en-US" sz="15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8D2CC"/>
                </a:solidFill>
                <a:latin typeface="Public Sans" pitchFamily="34" charset="0"/>
                <a:ea typeface="Public Sans" pitchFamily="34" charset="-122"/>
                <a:cs typeface="Public Sans" pitchFamily="34" charset="-120"/>
              </a:rPr>
              <a:t>Open source · MIT licence · Photo: GalileoMobile/ESO, CC BY 4.0, Wikimedia Commons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5"/>
        </a:solidFill>
      </p:bgPr>
    </p:bg>
    <p:spTree>
      <p:nvGrpSpPr>
        <p:cNvPr id="1" name=""/>
        <p:cNvGrpSpPr/>
        <p:nvPr/>
      </p:nvGrpSpPr>
      <p:grpSpPr>
        <a:xfrm>
          <a:off x="0" y="0"/>
          <a:ext cx="0" cy="0"/>
          <a:chOff x="0" y="0"/>
          <a:chExt cx="0" cy="0"/>
        </a:xfrm>
      </p:grpSpPr>
      <p:sp>
        <p:nvSpPr>
          <p:cNvPr id="2" name="Text 0"/>
          <p:cNvSpPr/>
          <p:nvPr/>
        </p:nvSpPr>
        <p:spPr>
          <a:xfrm>
            <a:off x="812800" y="6096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A8560A"/>
                </a:solidFill>
                <a:latin typeface="Public Sans" pitchFamily="34" charset="0"/>
                <a:ea typeface="Public Sans" pitchFamily="34" charset="-122"/>
                <a:cs typeface="Public Sans" pitchFamily="34" charset="-120"/>
              </a:rPr>
              <a:t>THE HACKATHON MINIMUM STANDARD</a:t>
            </a:r>
            <a:endParaRPr lang="en-US" sz="1300" dirty="0"/>
          </a:p>
        </p:txBody>
      </p:sp>
      <p:sp>
        <p:nvSpPr>
          <p:cNvPr id="3" name="Text 1"/>
          <p:cNvSpPr/>
          <p:nvPr>
            <p:ph type="title"/>
          </p:nvPr>
        </p:nvSpPr>
        <p:spPr>
          <a:xfrm>
            <a:off x="812800" y="88900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5231F"/>
                </a:solidFill>
                <a:latin typeface="Libre Baskerville" pitchFamily="18" charset="0"/>
                <a:ea typeface="Libre Baskerville" pitchFamily="18" charset="-122"/>
                <a:cs typeface="Libre Baskerville" pitchFamily="18" charset="-120"/>
              </a:rPr>
              <a:t>What it asks for, and what we have done</a:t>
            </a:r>
            <a:endParaRPr lang="en-US" sz="2600" dirty="0"/>
          </a:p>
        </p:txBody>
      </p:sp>
      <p:sp>
        <p:nvSpPr>
          <p:cNvPr id="4" name="Text 2"/>
          <p:cNvSpPr/>
          <p:nvPr/>
        </p:nvSpPr>
        <p:spPr>
          <a:xfrm>
            <a:off x="812800" y="1498600"/>
            <a:ext cx="5232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60A"/>
                </a:solidFill>
                <a:latin typeface="Public Sans" pitchFamily="34" charset="0"/>
                <a:ea typeface="Public Sans" pitchFamily="34" charset="-122"/>
                <a:cs typeface="Public Sans" pitchFamily="34" charset="-120"/>
              </a:rPr>
              <a:t>In the repo</a:t>
            </a:r>
            <a:endParaRPr lang="en-US" sz="1300" dirty="0"/>
          </a:p>
        </p:txBody>
      </p:sp>
      <p:sp>
        <p:nvSpPr>
          <p:cNvPr id="5" name="Text 3"/>
          <p:cNvSpPr/>
          <p:nvPr/>
        </p:nvSpPr>
        <p:spPr>
          <a:xfrm>
            <a:off x="6350000" y="1498600"/>
            <a:ext cx="5232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560A"/>
                </a:solidFill>
                <a:latin typeface="Public Sans" pitchFamily="34" charset="0"/>
                <a:ea typeface="Public Sans" pitchFamily="34" charset="-122"/>
                <a:cs typeface="Public Sans" pitchFamily="34" charset="-120"/>
              </a:rPr>
              <a:t>In the README</a:t>
            </a:r>
            <a:endParaRPr lang="en-US" sz="1300" dirty="0"/>
          </a:p>
        </p:txBody>
      </p:sp>
      <p:sp>
        <p:nvSpPr>
          <p:cNvPr id="6" name="Shape 4"/>
          <p:cNvSpPr/>
          <p:nvPr/>
        </p:nvSpPr>
        <p:spPr>
          <a:xfrm>
            <a:off x="812800" y="1879600"/>
            <a:ext cx="203200" cy="203200"/>
          </a:xfrm>
          <a:prstGeom prst="roundRect">
            <a:avLst>
              <a:gd name="adj" fmla="val 50000"/>
            </a:avLst>
          </a:prstGeom>
          <a:solidFill>
            <a:srgbClr val="A8560A"/>
          </a:solidFill>
          <a:ln/>
        </p:spPr>
      </p:sp>
      <p:sp>
        <p:nvSpPr>
          <p:cNvPr id="7" name="Text 5"/>
          <p:cNvSpPr/>
          <p:nvPr/>
        </p:nvSpPr>
        <p:spPr>
          <a:xfrm>
            <a:off x="1143000" y="18415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Open-source licence</a:t>
            </a:r>
            <a:endParaRPr lang="en-US" sz="1300" dirty="0"/>
          </a:p>
        </p:txBody>
      </p:sp>
      <p:sp>
        <p:nvSpPr>
          <p:cNvPr id="8" name="Text 6"/>
          <p:cNvSpPr/>
          <p:nvPr/>
        </p:nvSpPr>
        <p:spPr>
          <a:xfrm>
            <a:off x="1143000" y="20574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MIT, LICENSE file in the repo</a:t>
            </a:r>
            <a:endParaRPr lang="en-US" sz="1200" dirty="0"/>
          </a:p>
        </p:txBody>
      </p:sp>
      <p:sp>
        <p:nvSpPr>
          <p:cNvPr id="9" name="Shape 7"/>
          <p:cNvSpPr/>
          <p:nvPr/>
        </p:nvSpPr>
        <p:spPr>
          <a:xfrm>
            <a:off x="812800" y="2540000"/>
            <a:ext cx="203200" cy="203200"/>
          </a:xfrm>
          <a:prstGeom prst="roundRect">
            <a:avLst>
              <a:gd name="adj" fmla="val 50000"/>
            </a:avLst>
          </a:prstGeom>
          <a:solidFill>
            <a:srgbClr val="A8560A"/>
          </a:solidFill>
          <a:ln/>
        </p:spPr>
      </p:sp>
      <p:sp>
        <p:nvSpPr>
          <p:cNvPr id="10" name="Text 8"/>
          <p:cNvSpPr/>
          <p:nvPr/>
        </p:nvSpPr>
        <p:spPr>
          <a:xfrm>
            <a:off x="1143000" y="25019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Keys only in .env</a:t>
            </a:r>
            <a:endParaRPr lang="en-US" sz="1300" dirty="0"/>
          </a:p>
        </p:txBody>
      </p:sp>
      <p:sp>
        <p:nvSpPr>
          <p:cNvPr id="11" name="Text 9"/>
          <p:cNvSpPr/>
          <p:nvPr/>
        </p:nvSpPr>
        <p:spPr>
          <a:xfrm>
            <a:off x="1143000" y="27178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No API keys needed; .env git-ignored; gitleaks pre-commit</a:t>
            </a:r>
            <a:endParaRPr lang="en-US" sz="1200" dirty="0"/>
          </a:p>
        </p:txBody>
      </p:sp>
      <p:sp>
        <p:nvSpPr>
          <p:cNvPr id="12" name="Shape 10"/>
          <p:cNvSpPr/>
          <p:nvPr/>
        </p:nvSpPr>
        <p:spPr>
          <a:xfrm>
            <a:off x="812800" y="3200400"/>
            <a:ext cx="203200" cy="203200"/>
          </a:xfrm>
          <a:prstGeom prst="roundRect">
            <a:avLst>
              <a:gd name="adj" fmla="val 50000"/>
            </a:avLst>
          </a:prstGeom>
          <a:solidFill>
            <a:srgbClr val="A8560A"/>
          </a:solidFill>
          <a:ln/>
        </p:spPr>
      </p:sp>
      <p:sp>
        <p:nvSpPr>
          <p:cNvPr id="13" name="Text 11"/>
          <p:cNvSpPr/>
          <p:nvPr/>
        </p:nvSpPr>
        <p:spPr>
          <a:xfrm>
            <a:off x="1143000" y="31623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No real personal data</a:t>
            </a:r>
            <a:endParaRPr lang="en-US" sz="1300" dirty="0"/>
          </a:p>
        </p:txBody>
      </p:sp>
      <p:sp>
        <p:nvSpPr>
          <p:cNvPr id="14" name="Text 12"/>
          <p:cNvSpPr/>
          <p:nvPr/>
        </p:nvSpPr>
        <p:spPr>
          <a:xfrm>
            <a:off x="1143000" y="33782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Invented data in tests and examples; photos never stored</a:t>
            </a:r>
            <a:endParaRPr lang="en-US" sz="1200" dirty="0"/>
          </a:p>
        </p:txBody>
      </p:sp>
      <p:sp>
        <p:nvSpPr>
          <p:cNvPr id="15" name="Shape 13"/>
          <p:cNvSpPr/>
          <p:nvPr/>
        </p:nvSpPr>
        <p:spPr>
          <a:xfrm>
            <a:off x="825500" y="3873500"/>
            <a:ext cx="127000" cy="127000"/>
          </a:xfrm>
          <a:prstGeom prst="roundRect">
            <a:avLst>
              <a:gd name="adj" fmla="val 50000"/>
            </a:avLst>
          </a:prstGeom>
          <a:solidFill>
            <a:srgbClr val="F4EFE5"/>
          </a:solidFill>
          <a:ln w="25400">
            <a:solidFill>
              <a:srgbClr val="A8560A"/>
            </a:solidFill>
            <a:prstDash val="solid"/>
          </a:ln>
        </p:spPr>
      </p:sp>
      <p:sp>
        <p:nvSpPr>
          <p:cNvPr id="16" name="Text 14"/>
          <p:cNvSpPr/>
          <p:nvPr/>
        </p:nvSpPr>
        <p:spPr>
          <a:xfrm>
            <a:off x="1143000" y="38227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Pinned dependencies</a:t>
            </a:r>
            <a:endParaRPr lang="en-US" sz="1300" dirty="0"/>
          </a:p>
        </p:txBody>
      </p:sp>
      <p:sp>
        <p:nvSpPr>
          <p:cNvPr id="17" name="Text 15"/>
          <p:cNvSpPr/>
          <p:nvPr/>
        </p:nvSpPr>
        <p:spPr>
          <a:xfrm>
            <a:off x="1143000" y="40386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Locked in uv.lock; pip-audit set up. Fresh audit result still to add</a:t>
            </a:r>
            <a:endParaRPr lang="en-US" sz="1200" dirty="0"/>
          </a:p>
        </p:txBody>
      </p:sp>
      <p:sp>
        <p:nvSpPr>
          <p:cNvPr id="18" name="Shape 16"/>
          <p:cNvSpPr/>
          <p:nvPr/>
        </p:nvSpPr>
        <p:spPr>
          <a:xfrm>
            <a:off x="812800" y="4521200"/>
            <a:ext cx="203200" cy="203200"/>
          </a:xfrm>
          <a:prstGeom prst="roundRect">
            <a:avLst>
              <a:gd name="adj" fmla="val 50000"/>
            </a:avLst>
          </a:prstGeom>
          <a:solidFill>
            <a:srgbClr val="A8560A"/>
          </a:solidFill>
          <a:ln/>
        </p:spPr>
      </p:sp>
      <p:sp>
        <p:nvSpPr>
          <p:cNvPr id="19" name="Text 17"/>
          <p:cNvSpPr/>
          <p:nvPr/>
        </p:nvSpPr>
        <p:spPr>
          <a:xfrm>
            <a:off x="1143000" y="44831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Clear model error, rate limit</a:t>
            </a:r>
            <a:endParaRPr lang="en-US" sz="1300" dirty="0"/>
          </a:p>
        </p:txBody>
      </p:sp>
      <p:sp>
        <p:nvSpPr>
          <p:cNvPr id="20" name="Text 18"/>
          <p:cNvSpPr/>
          <p:nvPr/>
        </p:nvSpPr>
        <p:spPr>
          <a:xfrm>
            <a:off x="1143000" y="4699000"/>
            <a:ext cx="5537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"Please try again" message; 15 sessions, 2 per device, 10 joins/min</a:t>
            </a:r>
            <a:endParaRPr lang="en-US" sz="1200" dirty="0"/>
          </a:p>
        </p:txBody>
      </p:sp>
      <p:sp>
        <p:nvSpPr>
          <p:cNvPr id="21" name="Shape 19"/>
          <p:cNvSpPr/>
          <p:nvPr/>
        </p:nvSpPr>
        <p:spPr>
          <a:xfrm>
            <a:off x="812800" y="5181600"/>
            <a:ext cx="203200" cy="203200"/>
          </a:xfrm>
          <a:prstGeom prst="roundRect">
            <a:avLst>
              <a:gd name="adj" fmla="val 50000"/>
            </a:avLst>
          </a:prstGeom>
          <a:solidFill>
            <a:srgbClr val="A8560A"/>
          </a:solidFill>
          <a:ln/>
        </p:spPr>
      </p:sp>
      <p:sp>
        <p:nvSpPr>
          <p:cNvPr id="22" name="Text 20"/>
          <p:cNvSpPr/>
          <p:nvPr/>
        </p:nvSpPr>
        <p:spPr>
          <a:xfrm>
            <a:off x="1143000" y="51435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Disclaimer</a:t>
            </a:r>
            <a:endParaRPr lang="en-US" sz="1300" dirty="0"/>
          </a:p>
        </p:txBody>
      </p:sp>
      <p:sp>
        <p:nvSpPr>
          <p:cNvPr id="23" name="Text 21"/>
          <p:cNvSpPr/>
          <p:nvPr/>
        </p:nvSpPr>
        <p:spPr>
          <a:xfrm>
            <a:off x="1143000" y="53594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"AI can make mistakes, check with your teacher" on every page</a:t>
            </a:r>
            <a:endParaRPr lang="en-US" sz="1200" dirty="0"/>
          </a:p>
        </p:txBody>
      </p:sp>
      <p:sp>
        <p:nvSpPr>
          <p:cNvPr id="24" name="Shape 22"/>
          <p:cNvSpPr/>
          <p:nvPr/>
        </p:nvSpPr>
        <p:spPr>
          <a:xfrm>
            <a:off x="6350000" y="1879600"/>
            <a:ext cx="203200" cy="203200"/>
          </a:xfrm>
          <a:prstGeom prst="roundRect">
            <a:avLst>
              <a:gd name="adj" fmla="val 50000"/>
            </a:avLst>
          </a:prstGeom>
          <a:solidFill>
            <a:srgbClr val="A8560A"/>
          </a:solidFill>
          <a:ln/>
        </p:spPr>
      </p:sp>
      <p:sp>
        <p:nvSpPr>
          <p:cNvPr id="25" name="Text 23"/>
          <p:cNvSpPr/>
          <p:nvPr/>
        </p:nvSpPr>
        <p:spPr>
          <a:xfrm>
            <a:off x="6680200" y="18415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What it is and who it is for</a:t>
            </a:r>
            <a:endParaRPr lang="en-US" sz="1300" dirty="0"/>
          </a:p>
        </p:txBody>
      </p:sp>
      <p:sp>
        <p:nvSpPr>
          <p:cNvPr id="26" name="Text 24"/>
          <p:cNvSpPr/>
          <p:nvPr/>
        </p:nvSpPr>
        <p:spPr>
          <a:xfrm>
            <a:off x="6680200" y="20574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Free offline tutor for students without data or tutoring</a:t>
            </a:r>
            <a:endParaRPr lang="en-US" sz="1200" dirty="0"/>
          </a:p>
        </p:txBody>
      </p:sp>
      <p:sp>
        <p:nvSpPr>
          <p:cNvPr id="27" name="Shape 25"/>
          <p:cNvSpPr/>
          <p:nvPr/>
        </p:nvSpPr>
        <p:spPr>
          <a:xfrm>
            <a:off x="6350000" y="2540000"/>
            <a:ext cx="203200" cy="203200"/>
          </a:xfrm>
          <a:prstGeom prst="roundRect">
            <a:avLst>
              <a:gd name="adj" fmla="val 50000"/>
            </a:avLst>
          </a:prstGeom>
          <a:solidFill>
            <a:srgbClr val="A8560A"/>
          </a:solidFill>
          <a:ln/>
        </p:spPr>
      </p:sp>
      <p:sp>
        <p:nvSpPr>
          <p:cNvPr id="28" name="Text 26"/>
          <p:cNvSpPr/>
          <p:nvPr/>
        </p:nvSpPr>
        <p:spPr>
          <a:xfrm>
            <a:off x="6680200" y="25019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How to run it</a:t>
            </a:r>
            <a:endParaRPr lang="en-US" sz="1300" dirty="0"/>
          </a:p>
        </p:txBody>
      </p:sp>
      <p:sp>
        <p:nvSpPr>
          <p:cNvPr id="29" name="Text 27"/>
          <p:cNvSpPr/>
          <p:nvPr/>
        </p:nvSpPr>
        <p:spPr>
          <a:xfrm>
            <a:off x="6680200" y="27178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uv sync, opentutor setup, opentutor start; operator guide</a:t>
            </a:r>
            <a:endParaRPr lang="en-US" sz="1200" dirty="0"/>
          </a:p>
        </p:txBody>
      </p:sp>
      <p:sp>
        <p:nvSpPr>
          <p:cNvPr id="30" name="Shape 28"/>
          <p:cNvSpPr/>
          <p:nvPr/>
        </p:nvSpPr>
        <p:spPr>
          <a:xfrm>
            <a:off x="6350000" y="3200400"/>
            <a:ext cx="203200" cy="203200"/>
          </a:xfrm>
          <a:prstGeom prst="roundRect">
            <a:avLst>
              <a:gd name="adj" fmla="val 50000"/>
            </a:avLst>
          </a:prstGeom>
          <a:solidFill>
            <a:srgbClr val="A8560A"/>
          </a:solidFill>
          <a:ln/>
        </p:spPr>
      </p:sp>
      <p:sp>
        <p:nvSpPr>
          <p:cNvPr id="31" name="Text 29"/>
          <p:cNvSpPr/>
          <p:nvPr/>
        </p:nvSpPr>
        <p:spPr>
          <a:xfrm>
            <a:off x="6680200" y="31623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Expertise inside, and its source</a:t>
            </a:r>
            <a:endParaRPr lang="en-US" sz="1300" dirty="0"/>
          </a:p>
        </p:txBody>
      </p:sp>
      <p:sp>
        <p:nvSpPr>
          <p:cNvPr id="32" name="Text 30"/>
          <p:cNvSpPr/>
          <p:nvPr/>
        </p:nvSpPr>
        <p:spPr>
          <a:xfrm>
            <a:off x="6680200" y="33782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Hint ladder, 3 subject tutors, sympy maths checker, safety set</a:t>
            </a:r>
            <a:endParaRPr lang="en-US" sz="1200" dirty="0"/>
          </a:p>
        </p:txBody>
      </p:sp>
      <p:sp>
        <p:nvSpPr>
          <p:cNvPr id="33" name="Shape 31"/>
          <p:cNvSpPr/>
          <p:nvPr/>
        </p:nvSpPr>
        <p:spPr>
          <a:xfrm>
            <a:off x="6350000" y="3860800"/>
            <a:ext cx="203200" cy="203200"/>
          </a:xfrm>
          <a:prstGeom prst="roundRect">
            <a:avLst>
              <a:gd name="adj" fmla="val 50000"/>
            </a:avLst>
          </a:prstGeom>
          <a:solidFill>
            <a:srgbClr val="A8560A"/>
          </a:solidFill>
          <a:ln/>
        </p:spPr>
      </p:sp>
      <p:sp>
        <p:nvSpPr>
          <p:cNvPr id="34" name="Text 32"/>
          <p:cNvSpPr/>
          <p:nvPr/>
        </p:nvSpPr>
        <p:spPr>
          <a:xfrm>
            <a:off x="6680200" y="38227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The model and its licence</a:t>
            </a:r>
            <a:endParaRPr lang="en-US" sz="1300" dirty="0"/>
          </a:p>
        </p:txBody>
      </p:sp>
      <p:sp>
        <p:nvSpPr>
          <p:cNvPr id="35" name="Text 33"/>
          <p:cNvSpPr/>
          <p:nvPr/>
        </p:nvSpPr>
        <p:spPr>
          <a:xfrm>
            <a:off x="6680200" y="4038600"/>
            <a:ext cx="483997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Gemma 4 via Ollama; Apache 2.0 confirmed on Google's model card</a:t>
            </a:r>
            <a:endParaRPr lang="en-US" sz="1200" dirty="0"/>
          </a:p>
        </p:txBody>
      </p:sp>
      <p:sp>
        <p:nvSpPr>
          <p:cNvPr id="36" name="Shape 34"/>
          <p:cNvSpPr/>
          <p:nvPr/>
        </p:nvSpPr>
        <p:spPr>
          <a:xfrm>
            <a:off x="6362700" y="4533900"/>
            <a:ext cx="127000" cy="127000"/>
          </a:xfrm>
          <a:prstGeom prst="roundRect">
            <a:avLst>
              <a:gd name="adj" fmla="val 50000"/>
            </a:avLst>
          </a:prstGeom>
          <a:solidFill>
            <a:srgbClr val="F4EFE5"/>
          </a:solidFill>
          <a:ln w="25400">
            <a:solidFill>
              <a:srgbClr val="A8560A"/>
            </a:solidFill>
            <a:prstDash val="solid"/>
          </a:ln>
        </p:spPr>
      </p:sp>
      <p:sp>
        <p:nvSpPr>
          <p:cNvPr id="37" name="Text 35"/>
          <p:cNvSpPr/>
          <p:nvPr/>
        </p:nvSpPr>
        <p:spPr>
          <a:xfrm>
            <a:off x="6680200" y="4483100"/>
            <a:ext cx="483997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231F"/>
                </a:solidFill>
                <a:latin typeface="Public Sans" pitchFamily="34" charset="0"/>
                <a:ea typeface="Public Sans" pitchFamily="34" charset="-122"/>
                <a:cs typeface="Public Sans" pitchFamily="34" charset="-120"/>
              </a:rPr>
              <a:t>Proof it works better</a:t>
            </a:r>
            <a:endParaRPr lang="en-US" sz="1300" dirty="0"/>
          </a:p>
        </p:txBody>
      </p:sp>
      <p:sp>
        <p:nvSpPr>
          <p:cNvPr id="38" name="Text 36"/>
          <p:cNvSpPr/>
          <p:nvPr/>
        </p:nvSpPr>
        <p:spPr>
          <a:xfrm>
            <a:off x="6680200" y="4699000"/>
            <a:ext cx="48399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E4944"/>
                </a:solidFill>
                <a:latin typeface="Public Sans" pitchFamily="34" charset="0"/>
                <a:ea typeface="Public Sans" pitchFamily="34" charset="-122"/>
                <a:cs typeface="Public Sans" pitchFamily="34" charset="-120"/>
              </a:rPr>
              <a:t>Targets set in evals; results with real Gemma 4 still to run</a:t>
            </a:r>
            <a:endParaRPr lang="en-US" sz="1200" dirty="0"/>
          </a:p>
        </p:txBody>
      </p:sp>
      <p:sp>
        <p:nvSpPr>
          <p:cNvPr id="39" name="Shape 37"/>
          <p:cNvSpPr/>
          <p:nvPr/>
        </p:nvSpPr>
        <p:spPr>
          <a:xfrm>
            <a:off x="6356350" y="5226050"/>
            <a:ext cx="5016500" cy="596900"/>
          </a:xfrm>
          <a:prstGeom prst="roundRect">
            <a:avLst>
              <a:gd name="adj" fmla="val 11702"/>
            </a:avLst>
          </a:prstGeom>
          <a:solidFill>
            <a:srgbClr val="FBF8F1"/>
          </a:solidFill>
          <a:ln w="12700">
            <a:solidFill>
              <a:srgbClr val="D9D2C3"/>
            </a:solidFill>
            <a:prstDash val="solid"/>
          </a:ln>
        </p:spPr>
      </p:sp>
      <p:sp>
        <p:nvSpPr>
          <p:cNvPr id="40" name="Text 38"/>
          <p:cNvSpPr/>
          <p:nvPr/>
        </p:nvSpPr>
        <p:spPr>
          <a:xfrm>
            <a:off x="6527800" y="5295900"/>
            <a:ext cx="483997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944"/>
                </a:solidFill>
                <a:latin typeface="Public Sans" pitchFamily="34" charset="0"/>
                <a:ea typeface="Public Sans" pitchFamily="34" charset="-122"/>
                <a:cs typeface="Public Sans" pitchFamily="34" charset="-120"/>
              </a:rPr>
              <a:t>Also built: phone hub plus iPad handwriting tutor, 18 requirements, 8 decision records, 185 tests (88% coverage).</a:t>
            </a:r>
            <a:endParaRPr lang="en-US" sz="1200" dirty="0"/>
          </a:p>
        </p:txBody>
      </p:sp>
      <p:sp>
        <p:nvSpPr>
          <p:cNvPr id="41" name="Text 3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05B"/>
                </a:solidFill>
                <a:latin typeface="Public Sans" pitchFamily="34" charset="0"/>
                <a:ea typeface="Public Sans" pitchFamily="34" charset="-122"/>
                <a:cs typeface="Public Sans" pitchFamily="34" charset="-120"/>
              </a:rPr>
              <a:t>Filled circle: done. Open circle: still to do. Checked against github.com/adricasi/opentutor (main) on 24 Oct 2026.</a:t>
            </a:r>
            <a:endParaRPr lang="en-US" sz="1200" dirty="0"/>
          </a:p>
        </p:txBody>
      </p:sp>
    </p:spTree>
  </p:cSld>
  <p:clrMapOvr>
    <a:masterClrMapping/>
  </p:clrMapOvr>
</p:sld>
</file>

<file path=ppt/theme/theme1.xml><?xml version="1.0" encoding="utf-8"?>
<a:theme xmlns:a="http://schemas.openxmlformats.org/drawingml/2006/main" name="OpenTutor in 5 slides">
  <a:themeElements>
    <a:clrScheme name="OpenTutor in 5 slides">
      <a:dk1>
        <a:srgbClr val="15231F"/>
      </a:dk1>
      <a:lt1>
        <a:srgbClr val="E0892F"/>
      </a:lt1>
      <a:dk2>
        <a:srgbClr val="292D21"/>
      </a:dk2>
      <a:lt2>
        <a:srgbClr val="AD702B"/>
      </a:lt2>
      <a:accent1>
        <a:srgbClr val="A8560A"/>
      </a:accent1>
      <a:accent2>
        <a:srgbClr val="F4EFE5"/>
      </a:accent2>
      <a:accent3>
        <a:srgbClr val="3E4944"/>
      </a:accent3>
      <a:accent4>
        <a:srgbClr val="C8D2CC"/>
      </a:accent4>
      <a:accent5>
        <a:srgbClr val="56605B"/>
      </a:accent5>
      <a:accent6>
        <a:srgbClr val="9AA0A6"/>
      </a:accent6>
      <a:hlink>
        <a:srgbClr val="0563C1"/>
      </a:hlink>
      <a:folHlink>
        <a:srgbClr val="954F72"/>
      </a:folHlink>
    </a:clrScheme>
    <a:fontScheme name="OpenTutor in 5 slides">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OpenTutor in 5 slides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2026-10-24T14:42:37Z</dcterms:created>
  <dcterms:modified xsi:type="dcterms:W3CDTF">2026-10-24T14:42:37Z</dcterms:modified>
</cp:coreProperties>
</file>